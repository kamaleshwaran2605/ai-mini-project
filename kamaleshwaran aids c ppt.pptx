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9" r:id="rId4"/>
    <p:sldId id="260" r:id="rId5"/>
    <p:sldId id="258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-644" y="-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EF56DB-6447-4E9A-8D0B-327B958AB26D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476D98-D61B-4655-9F07-885518B2E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79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B42F0ED-5252-4C0D-3BA2-BA6ECDF907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34F6E366-4DE2-8E81-1DC3-0AEE197AF6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8C19ECA-A45F-0986-41DE-E73470F3D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8A127-BB09-41A4-B1CB-CF09F8E9604A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46DC80E-2DDD-1136-4BC6-B4406DBF7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3C6432E-64B5-4716-F794-CD0C848FE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428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5275F44-3844-F881-3DC9-E55F3A5BB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8B5DD6E-70DC-EC37-F363-8CA0371D4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E884CC4-4338-D905-6FCE-6141610CE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9C543-C1A5-4BB5-A80B-9531F5C51CEB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D46F4CB-E19E-BF21-CA04-20FBF9E0B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4C561CA-A7D9-921E-283C-D2D26EC9D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382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99F0DB8-4328-6842-4C20-194E16496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D1C16DD-B055-C373-DB9C-1095E3A7F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0308B3A-5B20-B104-4DC9-F294FE85D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B2ABE-BEC8-4A12-8AF2-3E9347C9F9C5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42F6EF1-C2BF-E0B8-5AD2-1E80894A9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73C3E5B-79C1-F551-EB78-424972E41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975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84FA2CF-D4B2-C0EA-7D8B-9997981DF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C8EC816-FAB0-61B5-B8A9-3CEEDE3AC6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B6888030-9606-40F3-F568-569861E67B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1F26BC2E-18CA-513E-BBD3-A4A6A4682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7CA91-FD83-4EFE-93EA-63992C03614F}" type="datetime1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610C424-8EE7-DCF3-92CA-9943CA217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13B02771-6578-A3F3-2DE5-957F26935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501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43A56EB-15F3-DA5A-FC5F-C8A9854DF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44F55B3-769C-0F68-56E4-09A31651F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49390E3-482E-14E5-E93E-3EFDFCA02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8A5F7FD4-A0A2-100E-247B-0439DA6A8E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9AB19785-7F9E-F7E7-9989-FBA2A2436A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599BF4CB-4B11-6795-84C1-91B139428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C43A-13E2-48A2-BAE5-CC73887FC199}" type="datetime1">
              <a:rPr lang="en-US" smtClean="0"/>
              <a:t>10/30/2025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F52FCB82-5972-D333-E21C-DF24F6BCF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AF12211A-324E-9069-32B0-8F509730A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088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040A965-A2B0-80BB-C6BA-CCCFA272A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DF0A2016-FBBB-4A1F-6F9E-FE6A63DE4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2C5D3-416C-4131-8BC9-E71DA97D5A64}" type="datetime1">
              <a:rPr lang="en-US" smtClean="0"/>
              <a:t>10/30/2025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EBE845DF-F961-5466-32C3-C6385060C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76E057F6-928A-6D9F-4161-C04DEAA83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974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3DB366D7-6680-4FD6-C029-DC5C0BB23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71593-8386-48B7-BB85-87C0949B2086}" type="datetime1">
              <a:rPr lang="en-US" smtClean="0"/>
              <a:t>10/30/2025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94179984-8567-91CB-0310-29A3752B7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A22C7A0D-606C-3BF9-8DBE-908D8096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376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3C684C1-8596-31A1-180D-C7EC5332B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13762C2-B7CC-ADA3-9D39-3541B3FE5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6835A5F9-7E68-401F-C3BB-09FB74F82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A5F73E6-ECB8-2943-41D8-05812D848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0F398-88D3-4D2F-9F7E-785BF8AD0274}" type="datetime1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86B5AF7-95CA-05D2-1119-F667C7B6F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2599C23-C916-AE53-9371-42CF3819D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991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2B9AC56-39A4-2278-722C-617F9F770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B1FAD1B2-1942-74FB-C400-0DB0C13B90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1DA8F38-E9BE-47E4-7662-3CD4AECCB2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228AE0B-2CCA-EDA3-1B80-8F2E1DF84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94C1-07AC-4775-8A4F-70BB05306BF7}" type="datetime1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FDB1342-9AFD-57F0-2E90-76ECCEAFA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DE180B8-E20A-6138-1A1C-1E980CAD4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494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6F050B6-05B4-E3FE-22C0-B823946C3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A534B519-CE0F-EF5E-0363-067F1B0DB1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9E2CA70-5E41-1433-D1D4-58B7EECA7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BF149-3A71-4B38-9BDE-7A4D7C7AB1AD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A27E013-1DD3-69EC-2DB2-F95CD3491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D12FAA7-8459-22BB-DD92-45D2DCDBB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19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2665F096-56EB-9C2E-FB81-FEE0A0CAD9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AF2D9855-6F39-E67A-6BE9-0AC527E972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5C113E1-9951-703E-A152-D5CEEC0EE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5CF1-83E4-4056-B983-BD617F30DAFA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7463D87-637E-E53B-45EF-5E53B2925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75677AB-ED08-1C04-AEC4-B8B3B85BC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424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B34DB59C-E06D-9064-D0E9-EE878347C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03B2644-B987-EA40-64D1-C253A45B0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DBC9483-BDE6-AF2E-5EF6-5FD8C63DA8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A37CB-3111-4E43-978B-840B0C3E984E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6345DA1-9E37-8BE4-5FD8-3086239736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9C78D0E-8A6B-A368-9312-1F3C29DDBA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527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kamaleshwaran2605/AI-Mini-project.git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77F15FA6-086D-491A-B175-0CA4656FBDCB}"/>
              </a:ext>
            </a:extLst>
          </p:cNvPr>
          <p:cNvPicPr/>
          <p:nvPr/>
        </p:nvPicPr>
        <p:blipFill>
          <a:blip r:embed="rId2" cstate="print"/>
          <a:srcRect l="21229" t="27213" r="21523" b="35253"/>
          <a:stretch>
            <a:fillRect/>
          </a:stretch>
        </p:blipFill>
        <p:spPr bwMode="auto">
          <a:xfrm>
            <a:off x="3256548" y="136525"/>
            <a:ext cx="4776536" cy="834189"/>
          </a:xfrm>
          <a:prstGeom prst="rect">
            <a:avLst/>
          </a:prstGeom>
          <a:ln>
            <a:headEnd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pic>
      <p:sp>
        <p:nvSpPr>
          <p:cNvPr id="7" name="Title 6">
            <a:extLst>
              <a:ext uri="{FF2B5EF4-FFF2-40B4-BE49-F238E27FC236}">
                <a16:creationId xmlns:a16="http://schemas.microsoft.com/office/drawing/2014/main" xmlns="" id="{5BEE647A-5606-A6E5-93DB-A43A8FC2D8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138" y="1251284"/>
            <a:ext cx="10812378" cy="2458586"/>
          </a:xfrm>
        </p:spPr>
        <p:txBody>
          <a:bodyPr>
            <a:no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AND DATA SCIENCE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 2025 - 2026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 III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LABORATORY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 PROJECT REVIEW</a:t>
            </a:r>
            <a:r>
              <a:rPr lang="en-GB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TRAFFIC ACCIDENT RISK PREDICTION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xmlns="" id="{B39E0012-B3AF-E718-6BBA-5D37629E40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8555681"/>
              </p:ext>
            </p:extLst>
          </p:nvPr>
        </p:nvGraphicFramePr>
        <p:xfrm>
          <a:off x="2098841" y="3845961"/>
          <a:ext cx="8392696" cy="245858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16485">
                  <a:extLst>
                    <a:ext uri="{9D8B030D-6E8A-4147-A177-3AD203B41FA5}">
                      <a16:colId xmlns:a16="http://schemas.microsoft.com/office/drawing/2014/main" xmlns="" val="1924387309"/>
                    </a:ext>
                  </a:extLst>
                </a:gridCol>
                <a:gridCol w="6176211">
                  <a:extLst>
                    <a:ext uri="{9D8B030D-6E8A-4147-A177-3AD203B41FA5}">
                      <a16:colId xmlns:a16="http://schemas.microsoft.com/office/drawing/2014/main" xmlns="" val="471423325"/>
                    </a:ext>
                  </a:extLst>
                </a:gridCol>
              </a:tblGrid>
              <a:tr h="486314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REGISTER NUMBER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2117240070137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71703413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KAMALESHWARAN</a:t>
                      </a:r>
                      <a:r>
                        <a:rPr lang="en-US" baseline="0" dirty="0" smtClean="0"/>
                        <a:t> P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967366592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YEAR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06965190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SECTION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34068443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FACULTY IN-CHARGE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 smtClean="0"/>
                        <a:t>Ms</a:t>
                      </a:r>
                      <a:r>
                        <a:rPr lang="en-GB" b="1" baseline="0" dirty="0" smtClean="0"/>
                        <a:t> . </a:t>
                      </a:r>
                      <a:r>
                        <a:rPr lang="en-GB" b="1" baseline="0" dirty="0" err="1" smtClean="0"/>
                        <a:t>Phebe</a:t>
                      </a:r>
                      <a:r>
                        <a:rPr lang="en-GB" b="1" baseline="0" dirty="0" smtClean="0"/>
                        <a:t> </a:t>
                      </a:r>
                      <a:r>
                        <a:rPr lang="en-GB" b="1" baseline="0" dirty="0" err="1" smtClean="0"/>
                        <a:t>Persis</a:t>
                      </a:r>
                      <a:r>
                        <a:rPr lang="en-GB" b="1" baseline="0" dirty="0" smtClean="0"/>
                        <a:t> 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36199969"/>
                  </a:ext>
                </a:extLst>
              </a:tr>
            </a:tbl>
          </a:graphicData>
        </a:graphic>
      </p:graphicFrame>
      <p:sp>
        <p:nvSpPr>
          <p:cNvPr id="12" name="Date Placeholder 11">
            <a:extLst>
              <a:ext uri="{FF2B5EF4-FFF2-40B4-BE49-F238E27FC236}">
                <a16:creationId xmlns:a16="http://schemas.microsoft.com/office/drawing/2014/main" xmlns="" id="{6B174A57-15CE-2FFD-86D9-B7E846924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B098-7844-408D-9BB3-6B083FBEE8AA}" type="datetime1">
              <a:rPr lang="en-US" smtClean="0"/>
              <a:t>10/30/2025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xmlns="" id="{E4873981-939E-932D-DBE2-6B02CC92B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793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23E759A-0732-65F8-ABFC-93E81441B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PROBLEM STATEMENT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AE17474-C476-1051-3F37-A2159E2BE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03" y="818148"/>
            <a:ext cx="11973828" cy="589066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b="1" dirty="0"/>
              <a:t>Brief Overview of Artificial Intelligence </a:t>
            </a:r>
            <a:r>
              <a:rPr lang="en-US" b="1" dirty="0" smtClean="0"/>
              <a:t>Concepts</a:t>
            </a:r>
          </a:p>
          <a:p>
            <a:pPr marL="0" indent="0">
              <a:buNone/>
            </a:pPr>
            <a:r>
              <a:rPr lang="en-US" sz="2000" b="1" dirty="0">
                <a:latin typeface="+mj-lt"/>
              </a:rPr>
              <a:t>	</a:t>
            </a:r>
            <a:r>
              <a:rPr lang="en-US" sz="2200" dirty="0" smtClean="0">
                <a:latin typeface="+mj-lt"/>
              </a:rPr>
              <a:t>Artificial </a:t>
            </a:r>
            <a:r>
              <a:rPr lang="en-US" sz="2200" dirty="0">
                <a:latin typeface="+mj-lt"/>
              </a:rPr>
              <a:t>Intelligence (AI) is a branch of computer science that enables machines to simulate human intelligence such as reasoning, learning, and decision-making. One of the core applications of AI is </a:t>
            </a:r>
            <a:r>
              <a:rPr lang="en-US" sz="2200" b="1" dirty="0">
                <a:latin typeface="+mj-lt"/>
              </a:rPr>
              <a:t>probabilistic reasoning</a:t>
            </a:r>
            <a:r>
              <a:rPr lang="en-US" sz="2200" dirty="0">
                <a:latin typeface="+mj-lt"/>
              </a:rPr>
              <a:t>, where systems make predictions and decisions even under uncertainty. This is achieved using techniques such as </a:t>
            </a:r>
            <a:r>
              <a:rPr lang="en-US" sz="2200" b="1" dirty="0">
                <a:latin typeface="+mj-lt"/>
              </a:rPr>
              <a:t>Bayesian inference</a:t>
            </a:r>
            <a:r>
              <a:rPr lang="en-US" sz="2200" dirty="0">
                <a:latin typeface="+mj-lt"/>
              </a:rPr>
              <a:t>, </a:t>
            </a:r>
            <a:r>
              <a:rPr lang="en-US" sz="2200" b="1" dirty="0">
                <a:latin typeface="+mj-lt"/>
              </a:rPr>
              <a:t>Naïve Bayes models</a:t>
            </a:r>
            <a:r>
              <a:rPr lang="en-US" sz="2200" dirty="0">
                <a:latin typeface="+mj-lt"/>
              </a:rPr>
              <a:t>, and </a:t>
            </a:r>
            <a:r>
              <a:rPr lang="en-US" sz="2200" b="1" dirty="0">
                <a:latin typeface="+mj-lt"/>
              </a:rPr>
              <a:t>Bayesian networks</a:t>
            </a:r>
            <a:r>
              <a:rPr lang="en-US" sz="2200" dirty="0">
                <a:latin typeface="+mj-lt"/>
              </a:rPr>
              <a:t>, which help in understanding the likelihood of events based on observed data</a:t>
            </a:r>
            <a:r>
              <a:rPr lang="en-US" sz="2200" dirty="0" smtClean="0">
                <a:latin typeface="+mj-lt"/>
              </a:rPr>
              <a:t>.</a:t>
            </a:r>
          </a:p>
          <a:p>
            <a:pPr>
              <a:buFont typeface="Wingdings" pitchFamily="2" charset="2"/>
              <a:buChar char="v"/>
            </a:pPr>
            <a:r>
              <a:rPr lang="en-US" b="1" dirty="0"/>
              <a:t>Why the Problem Matters</a:t>
            </a:r>
          </a:p>
          <a:p>
            <a:pPr lvl="1"/>
            <a:r>
              <a:rPr lang="en-US" sz="2000" dirty="0"/>
              <a:t>Accurate prediction of traffic accident risks can help:</a:t>
            </a:r>
          </a:p>
          <a:p>
            <a:pPr lvl="1"/>
            <a:r>
              <a:rPr lang="en-US" sz="2000" dirty="0"/>
              <a:t>Reduce road accidents through preventive measures.</a:t>
            </a:r>
          </a:p>
          <a:p>
            <a:pPr lvl="1"/>
            <a:r>
              <a:rPr lang="en-US" sz="2000" dirty="0"/>
              <a:t>Assist city planners in identifying accident-prone zones.</a:t>
            </a:r>
          </a:p>
          <a:p>
            <a:pPr lvl="1"/>
            <a:r>
              <a:rPr lang="en-US" sz="2000" dirty="0"/>
              <a:t>Improve public safety by alerting drivers of potential risks.</a:t>
            </a:r>
          </a:p>
          <a:p>
            <a:pPr lvl="1"/>
            <a:r>
              <a:rPr lang="en-US" sz="2000" dirty="0"/>
              <a:t>Help insurance companies and transport departments assess risk levels</a:t>
            </a:r>
            <a:r>
              <a:rPr lang="en-US" sz="2000" dirty="0" smtClean="0"/>
              <a:t>.</a:t>
            </a:r>
            <a:endParaRPr lang="en-US" sz="2000" dirty="0"/>
          </a:p>
          <a:p>
            <a:pPr>
              <a:buFont typeface="Wingdings" pitchFamily="2" charset="2"/>
              <a:buChar char="v"/>
            </a:pPr>
            <a:r>
              <a:rPr lang="en-IN" b="1" dirty="0" smtClean="0"/>
              <a:t>Project Aim</a:t>
            </a:r>
          </a:p>
          <a:p>
            <a:pPr marL="0" indent="0">
              <a:buNone/>
            </a:pPr>
            <a:r>
              <a:rPr lang="en-US" b="1" dirty="0" smtClean="0"/>
              <a:t>	</a:t>
            </a:r>
            <a:r>
              <a:rPr lang="en-US" sz="2000" dirty="0" smtClean="0"/>
              <a:t>The </a:t>
            </a:r>
            <a:r>
              <a:rPr lang="en-US" sz="2000" dirty="0"/>
              <a:t>main goal of this project is to </a:t>
            </a:r>
            <a:r>
              <a:rPr lang="en-US" sz="2000" b="1" dirty="0"/>
              <a:t>develop a probabilistic reasoning model</a:t>
            </a:r>
            <a:r>
              <a:rPr lang="en-US" sz="2000" dirty="0"/>
              <a:t> using </a:t>
            </a:r>
            <a:r>
              <a:rPr lang="en-US" sz="2000" b="1" dirty="0"/>
              <a:t>Bayesian networks</a:t>
            </a:r>
            <a:r>
              <a:rPr lang="en-US" sz="2000" dirty="0"/>
              <a:t> to predict the likelihood of a traffic accident based on parameters such as Time of </a:t>
            </a:r>
            <a:r>
              <a:rPr lang="en-US" sz="2000" dirty="0" smtClean="0"/>
              <a:t>day, Weather conditions, Road type, Driver condition, Traffic </a:t>
            </a:r>
            <a:r>
              <a:rPr lang="en-US" sz="2000" dirty="0"/>
              <a:t>density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5FF5BCC-B36E-DFE5-103F-31FA12632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70253399-F526-B4B1-D444-32B3A164A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614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3ACC068-5F54-97E8-2F1C-0538F1126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7B2B1AF-B7ED-6DDA-888D-9BCAF08EA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THEORETICAL BACKGROUND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E67243E-1300-82BE-9968-6837E801A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28" y="818147"/>
            <a:ext cx="11228672" cy="5929161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Theoretical Background of the Problem and Algorithm</a:t>
            </a:r>
          </a:p>
          <a:p>
            <a:pPr lvl="1">
              <a:buFont typeface="Courier New" pitchFamily="49" charset="0"/>
              <a:buChar char="o"/>
            </a:pPr>
            <a:r>
              <a:rPr lang="en-US" dirty="0"/>
              <a:t>Probabilistic reasoning provides a mathematical framework to model uncertainty in AI.</a:t>
            </a:r>
            <a:br>
              <a:rPr lang="en-US" dirty="0"/>
            </a:br>
            <a:r>
              <a:rPr lang="en-US" dirty="0"/>
              <a:t>In this project, a </a:t>
            </a:r>
            <a:r>
              <a:rPr lang="en-US" b="1" dirty="0"/>
              <a:t>Bayesian Network (BN)</a:t>
            </a:r>
            <a:r>
              <a:rPr lang="en-US" dirty="0"/>
              <a:t> — a type of probabilistic graphical model — is used to represent causal relationships between different factors that contribute to accidents.</a:t>
            </a:r>
            <a:br>
              <a:rPr lang="en-US" dirty="0"/>
            </a:br>
            <a:r>
              <a:rPr lang="en-US" dirty="0"/>
              <a:t>Each node in the network represents a variable (e.g., weather, road condition), and edges represent dependencies between them.</a:t>
            </a:r>
          </a:p>
          <a:p>
            <a:pPr lvl="1">
              <a:buFont typeface="Courier New" pitchFamily="49" charset="0"/>
              <a:buChar char="o"/>
            </a:pPr>
            <a:r>
              <a:rPr lang="en-US" dirty="0"/>
              <a:t>The BN computes the probability of an accident based on the joint probabilities of all influencing variables using </a:t>
            </a:r>
            <a:r>
              <a:rPr lang="en-US" b="1" dirty="0"/>
              <a:t>Bayes’ </a:t>
            </a:r>
            <a:r>
              <a:rPr lang="en-US" b="1" dirty="0" smtClean="0"/>
              <a:t>theorem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Literature </a:t>
            </a:r>
            <a:r>
              <a:rPr lang="en-US" b="1" dirty="0"/>
              <a:t>Survey</a:t>
            </a:r>
          </a:p>
          <a:p>
            <a:pPr lvl="1">
              <a:buFont typeface="Courier New" pitchFamily="49" charset="0"/>
              <a:buChar char="o"/>
            </a:pPr>
            <a:r>
              <a:rPr lang="en-US" dirty="0"/>
              <a:t>Researchers have used </a:t>
            </a:r>
            <a:r>
              <a:rPr lang="en-US" b="1" dirty="0"/>
              <a:t>Naïve Bayes classifiers</a:t>
            </a:r>
            <a:r>
              <a:rPr lang="en-US" dirty="0"/>
              <a:t> for driver behavior analysis and accident prediction due to their simplicity and good performance with limited data.</a:t>
            </a:r>
          </a:p>
          <a:p>
            <a:pPr lvl="1">
              <a:buFont typeface="Courier New" pitchFamily="49" charset="0"/>
              <a:buChar char="o"/>
            </a:pPr>
            <a:r>
              <a:rPr lang="en-US" dirty="0"/>
              <a:t>Studies show that </a:t>
            </a:r>
            <a:r>
              <a:rPr lang="en-US" b="1" dirty="0"/>
              <a:t>Bayesian networks</a:t>
            </a:r>
            <a:r>
              <a:rPr lang="en-US" dirty="0"/>
              <a:t> outperform deterministic models in handling uncertainty and interdependent variables.</a:t>
            </a:r>
          </a:p>
          <a:p>
            <a:pPr lvl="1">
              <a:buFont typeface="Courier New" pitchFamily="49" charset="0"/>
              <a:buChar char="o"/>
            </a:pPr>
            <a:r>
              <a:rPr lang="en-US" b="1" dirty="0"/>
              <a:t>Hybrid models</a:t>
            </a:r>
            <a:r>
              <a:rPr lang="en-US" dirty="0"/>
              <a:t>, combining Bayesian inference with real-time sensor data, have improved prediction accuracy in urban traffic management.</a:t>
            </a:r>
          </a:p>
          <a:p>
            <a:pPr lvl="1">
              <a:buFont typeface="Courier New" pitchFamily="49" charset="0"/>
              <a:buChar char="o"/>
            </a:pPr>
            <a:r>
              <a:rPr lang="en-US" b="1" dirty="0"/>
              <a:t>Machine learning-based risk analysis</a:t>
            </a:r>
            <a:r>
              <a:rPr lang="en-US" dirty="0"/>
              <a:t> has been explored in transportation engineering to identify accident hotspots.</a:t>
            </a:r>
          </a:p>
          <a:p>
            <a:r>
              <a:rPr lang="en-US" b="1" dirty="0" smtClean="0"/>
              <a:t>Justification </a:t>
            </a:r>
            <a:r>
              <a:rPr lang="en-US" b="1" dirty="0"/>
              <a:t>for Choosing the Algorithm</a:t>
            </a:r>
          </a:p>
          <a:p>
            <a:pPr lvl="1">
              <a:buFont typeface="Courier New" pitchFamily="49" charset="0"/>
              <a:buChar char="o"/>
            </a:pPr>
            <a:r>
              <a:rPr lang="en-US" dirty="0"/>
              <a:t>Bayesian networks are chosen because:</a:t>
            </a:r>
          </a:p>
          <a:p>
            <a:pPr lvl="1">
              <a:buFont typeface="Courier New" pitchFamily="49" charset="0"/>
              <a:buChar char="o"/>
            </a:pPr>
            <a:r>
              <a:rPr lang="en-US" dirty="0"/>
              <a:t>They handle </a:t>
            </a:r>
            <a:r>
              <a:rPr lang="en-US" b="1" dirty="0"/>
              <a:t>uncertain and incomplete information</a:t>
            </a:r>
            <a:r>
              <a:rPr lang="en-US" dirty="0"/>
              <a:t> effectively.</a:t>
            </a:r>
          </a:p>
          <a:p>
            <a:pPr lvl="1">
              <a:buFont typeface="Courier New" pitchFamily="49" charset="0"/>
              <a:buChar char="o"/>
            </a:pPr>
            <a:r>
              <a:rPr lang="en-US" dirty="0"/>
              <a:t>They provide a </a:t>
            </a:r>
            <a:r>
              <a:rPr lang="en-US" b="1" dirty="0"/>
              <a:t>causal interpretation</a:t>
            </a:r>
            <a:r>
              <a:rPr lang="en-US" dirty="0"/>
              <a:t> of variables influencing accidents.</a:t>
            </a:r>
          </a:p>
          <a:p>
            <a:pPr lvl="1">
              <a:buFont typeface="Courier New" pitchFamily="49" charset="0"/>
              <a:buChar char="o"/>
            </a:pPr>
            <a:r>
              <a:rPr lang="en-US" dirty="0"/>
              <a:t>They can update predictions dynamically as new data becomes available.</a:t>
            </a:r>
          </a:p>
          <a:p>
            <a:pPr lvl="1">
              <a:buFont typeface="Courier New" pitchFamily="49" charset="0"/>
              <a:buChar char="o"/>
            </a:pPr>
            <a:r>
              <a:rPr lang="en-US" dirty="0"/>
              <a:t>They support both </a:t>
            </a:r>
            <a:r>
              <a:rPr lang="en-US" b="1" dirty="0"/>
              <a:t>exact and approximate inference</a:t>
            </a:r>
            <a:r>
              <a:rPr lang="en-US" dirty="0"/>
              <a:t>, making them scalable for real-world data.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AF593AB-ABA6-D8E8-42D9-A38FB7B4D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40AE40CC-B05F-6325-A926-99504CD4A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692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AF55069-71B1-83F0-E5F5-B02F8F577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F358887-D4AD-6383-79D6-F528D3482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 EXPLANATION OF ALGORITHM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B511744-1841-7314-5231-7CC4C07DD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Bayes’ Theorem:</a:t>
            </a:r>
            <a:endParaRPr lang="en-IN" dirty="0"/>
          </a:p>
          <a:p>
            <a:pPr marL="457200" lvl="1" indent="0">
              <a:buNone/>
            </a:pPr>
            <a:endParaRPr lang="en-US" dirty="0" smtClean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 smtClean="0"/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/>
              <a:t>Where:</a:t>
            </a:r>
          </a:p>
          <a:p>
            <a:pPr lvl="1"/>
            <a:r>
              <a:rPr lang="en-IN" dirty="0" smtClean="0"/>
              <a:t>P(A</a:t>
            </a:r>
            <a:r>
              <a:rPr lang="en-IN" dirty="0"/>
              <a:t>∣B): Probability of event A (accident) given evidence B (e.g., bad weather).</a:t>
            </a:r>
          </a:p>
          <a:p>
            <a:pPr lvl="1"/>
            <a:r>
              <a:rPr lang="en-IN" dirty="0" smtClean="0"/>
              <a:t>P(B</a:t>
            </a:r>
            <a:r>
              <a:rPr lang="en-IN" dirty="0"/>
              <a:t>∣A): Probability of observing evidence B given accident occurred.</a:t>
            </a:r>
          </a:p>
          <a:p>
            <a:pPr lvl="1"/>
            <a:r>
              <a:rPr lang="en-IN" dirty="0" smtClean="0"/>
              <a:t>P(A</a:t>
            </a:r>
            <a:r>
              <a:rPr lang="en-IN" dirty="0"/>
              <a:t>): Prior probability of accident.</a:t>
            </a:r>
          </a:p>
          <a:p>
            <a:pPr lvl="1"/>
            <a:r>
              <a:rPr lang="en-IN" dirty="0" smtClean="0"/>
              <a:t>P(B</a:t>
            </a:r>
            <a:r>
              <a:rPr lang="en-IN" dirty="0"/>
              <a:t>): Probability of observing evidence B.</a:t>
            </a:r>
          </a:p>
          <a:p>
            <a:pPr marL="457200" lvl="1" indent="0">
              <a:buNone/>
            </a:pPr>
            <a:endParaRPr lang="en-IN" dirty="0"/>
          </a:p>
          <a:p>
            <a:pPr lvl="0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47BACE5-322B-3F55-2CA9-8E1D41170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A7D1AF6B-7EFE-60E0-2350-AE083D01A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4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9638" y="1752583"/>
            <a:ext cx="34671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05269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4A34F6B-2294-8100-6428-71DD4A23A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E876350-5987-57CB-5096-A77DCA200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IMPLEMENTATION AND CODE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229904C-7E5E-5862-ACA4-167CDBC50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/>
          <a:lstStyle/>
          <a:p>
            <a:r>
              <a:rPr lang="en-GB" dirty="0"/>
              <a:t>Link to code in Git-hub Repository</a:t>
            </a:r>
          </a:p>
          <a:p>
            <a:endParaRPr lang="en-GB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0BC0E82-F7C5-E4B3-8BB9-1583AC631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10/31/2025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04775014-201C-1110-C957-46A30A1C2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xmlns="" id="{ACE64048-76D1-E559-97A6-1E9DA8CC9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6729491"/>
              </p:ext>
            </p:extLst>
          </p:nvPr>
        </p:nvGraphicFramePr>
        <p:xfrm>
          <a:off x="1854200" y="2205222"/>
          <a:ext cx="8128000" cy="2286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xmlns="" val="40520043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xmlns="" val="12519598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List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Git-hub Repository Links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399369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Implementation of Code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hlinkClick r:id="rId2"/>
                        </a:rPr>
                        <a:t>https://github.com/kamaleshwaran2605/AI-Mini-project.git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996202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Word Document Report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hlinkClick r:id="rId2"/>
                        </a:rPr>
                        <a:t>https://github.com/kamaleshwaran2605/AI-Mini-project.git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251050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PPT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https://github.com/kamaleshwaran2605/AI-Mini-project.git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8072417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9586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AD63ECA-B59E-8742-1165-9911D2A45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E0B2EF6-B936-B9EB-24E4-C84A06240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4773938-5370-329C-27AB-D82ECB9D7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10/31/2025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E8A83B3C-8735-B8FC-8D50-B919B3471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6</a:t>
            </a:fld>
            <a:endParaRPr lang="en-US"/>
          </a:p>
        </p:txBody>
      </p:sp>
      <p:pic>
        <p:nvPicPr>
          <p:cNvPr id="6" name="Content Placeholder 5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3887" y="1680710"/>
            <a:ext cx="5929162" cy="4431331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3"/>
          <a:stretch>
            <a:fillRect/>
          </a:stretch>
        </p:blipFill>
        <p:spPr>
          <a:xfrm>
            <a:off x="6408136" y="1703672"/>
            <a:ext cx="5575317" cy="4446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363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9DEA9EE-5679-A557-E7BF-0A904D097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2BF6077-2697-7116-5A2C-99B8054B7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REFERENCES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3AB1971-AF7F-80EE-26ED-EA8A7E8C7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634" y="1267326"/>
            <a:ext cx="11646568" cy="5412607"/>
          </a:xfrm>
        </p:spPr>
        <p:txBody>
          <a:bodyPr>
            <a:normAutofit/>
          </a:bodyPr>
          <a:lstStyle/>
          <a:p>
            <a:r>
              <a:rPr lang="en-IN" dirty="0"/>
              <a:t>Russell, S., &amp; </a:t>
            </a:r>
            <a:r>
              <a:rPr lang="en-IN" dirty="0" err="1"/>
              <a:t>Norvig</a:t>
            </a:r>
            <a:r>
              <a:rPr lang="en-IN" dirty="0"/>
              <a:t>, P. (2021). </a:t>
            </a:r>
            <a:r>
              <a:rPr lang="en-IN" i="1" dirty="0"/>
              <a:t>Artificial Intelligence: A Modern Approach</a:t>
            </a:r>
            <a:r>
              <a:rPr lang="en-IN" dirty="0"/>
              <a:t> (4th ed.). Pearson Education.</a:t>
            </a:r>
          </a:p>
          <a:p>
            <a:r>
              <a:rPr lang="en-IN" dirty="0" err="1"/>
              <a:t>Koller</a:t>
            </a:r>
            <a:r>
              <a:rPr lang="en-IN" dirty="0"/>
              <a:t>, D., &amp; Friedman, N. (2009). </a:t>
            </a:r>
            <a:r>
              <a:rPr lang="en-IN" i="1" dirty="0"/>
              <a:t>Probabilistic Graphical Models: Principles and Techniques</a:t>
            </a:r>
            <a:r>
              <a:rPr lang="en-IN" dirty="0"/>
              <a:t>. MIT Press.</a:t>
            </a:r>
          </a:p>
          <a:p>
            <a:r>
              <a:rPr lang="en-IN" dirty="0"/>
              <a:t>Zhang, Y., &amp; </a:t>
            </a:r>
            <a:r>
              <a:rPr lang="en-IN" dirty="0" err="1"/>
              <a:t>Xie</a:t>
            </a:r>
            <a:r>
              <a:rPr lang="en-IN" dirty="0"/>
              <a:t>, Y. (2017). </a:t>
            </a:r>
            <a:r>
              <a:rPr lang="en-IN" i="1" dirty="0"/>
              <a:t>Bayesian Network Model for Traffic Accident Risk Prediction</a:t>
            </a:r>
            <a:r>
              <a:rPr lang="en-IN" dirty="0"/>
              <a:t>. </a:t>
            </a:r>
            <a:r>
              <a:rPr lang="en-IN" i="1" dirty="0"/>
              <a:t>Transportation Research Record: Journal of the Transportation Research Board</a:t>
            </a:r>
            <a:r>
              <a:rPr lang="en-IN" dirty="0"/>
              <a:t>.</a:t>
            </a:r>
          </a:p>
          <a:p>
            <a:r>
              <a:rPr lang="en-IN" dirty="0"/>
              <a:t>"Bayesian Networks in Python" – </a:t>
            </a:r>
            <a:r>
              <a:rPr lang="en-IN" i="1" dirty="0" err="1"/>
              <a:t>pgmpy</a:t>
            </a:r>
            <a:r>
              <a:rPr lang="en-IN" i="1" dirty="0"/>
              <a:t> Documentation</a:t>
            </a:r>
            <a:r>
              <a:rPr lang="en-IN" dirty="0"/>
              <a:t>, https://pgmpy.org</a:t>
            </a:r>
          </a:p>
          <a:p>
            <a:r>
              <a:rPr lang="en-IN" dirty="0" err="1"/>
              <a:t>Dempster</a:t>
            </a:r>
            <a:r>
              <a:rPr lang="en-IN" dirty="0"/>
              <a:t>, A. P., Laird, N. M., &amp; Rubin, D. B. (1977). </a:t>
            </a:r>
            <a:r>
              <a:rPr lang="en-IN" i="1" dirty="0"/>
              <a:t>Maximum Likelihood from Incomplete Data via the EM Algorithm</a:t>
            </a:r>
            <a:r>
              <a:rPr lang="en-IN" dirty="0"/>
              <a:t>. </a:t>
            </a:r>
            <a:r>
              <a:rPr lang="en-IN" i="1" dirty="0"/>
              <a:t>Journal of the Royal Statistical Society</a:t>
            </a:r>
            <a:r>
              <a:rPr lang="en-IN" dirty="0"/>
              <a:t>.</a:t>
            </a:r>
          </a:p>
          <a:p>
            <a:pPr lvl="0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18721BC-42E2-4822-3086-5AF81F1A3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60D8BC28-15FA-0C88-32FB-88458DEBB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607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1459</TotalTime>
  <Words>287</Words>
  <Application>Microsoft Office PowerPoint</Application>
  <PresentationFormat>Custom</PresentationFormat>
  <Paragraphs>80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DEPARTMENT OF ARTIFICIAL INTELLIGENCE AND DATA SCIENCE ACADEMIC YEAR 2025 - 2026 SEMESTER III ARTIFICIAL INTELLIGENCE LABORATORY  MINI PROJECT REVIEW   TRAFFIC ACCIDENT RISK PREDICTION</vt:lpstr>
      <vt:lpstr>PROBLEM STATEMENT</vt:lpstr>
      <vt:lpstr>THEORETICAL BACKGROUND</vt:lpstr>
      <vt:lpstr> EXPLANATION OF ALGORITHM</vt:lpstr>
      <vt:lpstr>IMPLEMENTATION AND CODE</vt:lpstr>
      <vt:lpstr>OUTPUT AND RESULTS</vt:lpstr>
      <vt:lpstr>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OF ARTIFICIAL INTELLIGENCE AND DATA SCIENCE ACADEMIC YEAR 2025 - 2026 SEMESTER III ARTIFICIAL INTELLIGENCE LABORATORY  MINI PROJECT REVIEW   &lt;TITLE OF THE PROJECT&gt;</dc:title>
  <dc:creator>SANKAR GANESH K</dc:creator>
  <cp:lastModifiedBy>DREAMZ</cp:lastModifiedBy>
  <cp:revision>9</cp:revision>
  <dcterms:created xsi:type="dcterms:W3CDTF">2025-10-18T08:57:34Z</dcterms:created>
  <dcterms:modified xsi:type="dcterms:W3CDTF">2025-10-31T12:13:29Z</dcterms:modified>
</cp:coreProperties>
</file>